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08" r:id="rId1"/>
  </p:sldMasterIdLst>
  <p:notesMasterIdLst>
    <p:notesMasterId r:id="rId12"/>
  </p:notesMasterIdLst>
  <p:handoutMasterIdLst>
    <p:handoutMasterId r:id="rId13"/>
  </p:handoutMasterIdLst>
  <p:sldIdLst>
    <p:sldId id="2147480614" r:id="rId2"/>
    <p:sldId id="2147480615" r:id="rId3"/>
    <p:sldId id="2147480689" r:id="rId4"/>
    <p:sldId id="2147481468" r:id="rId5"/>
    <p:sldId id="2147481469" r:id="rId6"/>
    <p:sldId id="2147480692" r:id="rId7"/>
    <p:sldId id="2147480713" r:id="rId8"/>
    <p:sldId id="2147480626" r:id="rId9"/>
    <p:sldId id="2147480693" r:id="rId10"/>
    <p:sldId id="2147480665" r:id="rId11"/>
  </p:sldIdLst>
  <p:sldSz cx="9144000" cy="5143500" type="screen16x9"/>
  <p:notesSz cx="6797675" cy="9928225"/>
  <p:defaultTextStyle>
    <a:defPPr>
      <a:defRPr lang="zh-TW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2E75B6"/>
    <a:srgbClr val="A62E37"/>
    <a:srgbClr val="D59595"/>
    <a:srgbClr val="A42F35"/>
    <a:srgbClr val="FECC09"/>
    <a:srgbClr val="FFBDBD"/>
    <a:srgbClr val="B0EFA3"/>
    <a:srgbClr val="FFFFBD"/>
    <a:srgbClr val="343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6242" autoAdjust="0"/>
  </p:normalViewPr>
  <p:slideViewPr>
    <p:cSldViewPr>
      <p:cViewPr varScale="1">
        <p:scale>
          <a:sx n="146" d="100"/>
          <a:sy n="146" d="100"/>
        </p:scale>
        <p:origin x="924" y="114"/>
      </p:cViewPr>
      <p:guideLst>
        <p:guide orient="horz" pos="1665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402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80CBDAD-537E-0822-5112-44B2985ACA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858E9C-23AA-DECE-F5B1-69F318BF98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7B6E6-029F-4E71-A42B-AF5B8CAD401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CDFAE20-597D-C646-BF69-38D1DAADAD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C5B2CD-EEE3-3717-70A7-7693B86E6F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CE7BC-9859-4A12-975C-228783C059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658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ECB16-E051-435B-BEAD-85016D0A5FB4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4" y="9430092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92A63-DA82-4897-96F1-99664FC1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749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5497">
              <a:defRPr/>
            </a:pPr>
            <a:r>
              <a:rPr lang="zh-TW" altLang="en-US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體系內</a:t>
            </a:r>
            <a:r>
              <a:rPr lang="en-US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RA UC </a:t>
            </a:r>
            <a:r>
              <a:rPr lang="zh-TW" altLang="en-US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兩個適應症都有的</a:t>
            </a:r>
            <a:endParaRPr lang="en-US" altLang="zh-TW" sz="1800" dirty="0"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defTabSz="915497">
              <a:defRPr/>
            </a:pPr>
            <a:r>
              <a:rPr lang="zh-TW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佔據</a:t>
            </a:r>
            <a:r>
              <a:rPr lang="en-US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TK </a:t>
            </a:r>
            <a:r>
              <a:rPr lang="zh-TW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分子上的</a:t>
            </a:r>
            <a:r>
              <a:rPr lang="en-US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ATP </a:t>
            </a:r>
            <a:r>
              <a:rPr lang="zh-TW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結合位點</a:t>
            </a:r>
            <a:r>
              <a:rPr lang="en-US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(Binding Pocket)</a:t>
            </a:r>
            <a:r>
              <a:rPr lang="zh-TW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，讓</a:t>
            </a:r>
            <a:r>
              <a:rPr lang="en-US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ATP </a:t>
            </a:r>
            <a:r>
              <a:rPr lang="zh-TW" altLang="zh-TW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沒辦法供給磷酸根，開關就此被強行關閉。</a:t>
            </a:r>
            <a:r>
              <a:rPr lang="zh-TW" altLang="en-US" sz="18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就不會一直異常的「生長」「分裂」「移動」</a:t>
            </a:r>
            <a:endParaRPr lang="en-US" altLang="zh-TW" b="1" dirty="0">
              <a:cs typeface="Calibri" panose="020F0502020204030204" pitchFamily="34" charset="0"/>
              <a:sym typeface="Calibri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5475">
              <a:defRPr/>
            </a:pPr>
            <a:fld id="{AF692A63-DA82-4897-96F1-99664FC11F1C}" type="slidenum">
              <a:rPr lang="zh-TW" altLang="en-US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pPr defTabSz="915475">
                <a:defRPr/>
              </a:pPr>
              <a:t>2</a:t>
            </a:fld>
            <a:endParaRPr lang="zh-TW" altLang="en-US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4957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療效部分先看左邊  在</a:t>
            </a:r>
            <a:r>
              <a:rPr lang="en-US" altLang="zh-TW" dirty="0"/>
              <a:t>RA</a:t>
            </a:r>
            <a:r>
              <a:rPr lang="zh-TW" altLang="en-US" dirty="0"/>
              <a:t>部分 文獻收集了</a:t>
            </a:r>
            <a:r>
              <a:rPr lang="en-US" altLang="zh-TW" dirty="0"/>
              <a:t>….</a:t>
            </a:r>
            <a:r>
              <a:rPr lang="zh-TW" altLang="en-US" dirty="0"/>
              <a:t>疾病改善度  在基礎療效上 三者無顯著差異 但在療效顯著的 </a:t>
            </a:r>
            <a:r>
              <a:rPr lang="en-US" altLang="zh-TW" dirty="0"/>
              <a:t>ACR 70</a:t>
            </a:r>
            <a:r>
              <a:rPr lang="zh-TW" altLang="en-US" dirty="0"/>
              <a:t> 部分 </a:t>
            </a:r>
            <a:r>
              <a:rPr lang="en-US" altLang="zh-TW" dirty="0"/>
              <a:t>Upadacitinib, Tofacitinib </a:t>
            </a:r>
            <a:r>
              <a:rPr lang="zh-TW" altLang="en-US" dirty="0"/>
              <a:t>表現較佳</a:t>
            </a:r>
            <a:endParaRPr lang="en-US" altLang="zh-TW" dirty="0"/>
          </a:p>
          <a:p>
            <a:r>
              <a:rPr lang="zh-TW" altLang="en-US" dirty="0"/>
              <a:t>右邊是 在</a:t>
            </a:r>
            <a:r>
              <a:rPr lang="en-US" altLang="zh-TW" dirty="0"/>
              <a:t>IBD</a:t>
            </a:r>
            <a:r>
              <a:rPr lang="zh-TW" altLang="en-US" dirty="0"/>
              <a:t>部分 文獻收集了</a:t>
            </a:r>
            <a:r>
              <a:rPr lang="en-US" altLang="zh-TW" dirty="0"/>
              <a:t>…. </a:t>
            </a:r>
            <a:r>
              <a:rPr lang="zh-TW" altLang="en-US" dirty="0"/>
              <a:t>在成效最佳的疾病緩解部分，</a:t>
            </a:r>
            <a:r>
              <a:rPr lang="en-US" altLang="zh-TW" dirty="0"/>
              <a:t>Upadacitinib</a:t>
            </a:r>
            <a:r>
              <a:rPr lang="zh-TW" altLang="en-US" dirty="0"/>
              <a:t> 表現最好 而在各療效指標成效的綜合排名上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ACR20</a:t>
            </a:r>
            <a:r>
              <a:rPr lang="zh-TW" altLang="en-US" dirty="0"/>
              <a:t>、</a:t>
            </a:r>
            <a:r>
              <a:rPr lang="en-US" altLang="zh-TW" dirty="0"/>
              <a:t>ACR50 </a:t>
            </a:r>
            <a:r>
              <a:rPr lang="zh-TW" altLang="en-US" dirty="0"/>
              <a:t>和 </a:t>
            </a:r>
            <a:r>
              <a:rPr lang="en-US" altLang="zh-TW" dirty="0"/>
              <a:t>ACR70 </a:t>
            </a:r>
            <a:r>
              <a:rPr lang="zh-TW" altLang="en-US" dirty="0"/>
              <a:t>是由美國風濕病學會</a:t>
            </a:r>
            <a:r>
              <a:rPr lang="en-US" altLang="zh-TW" dirty="0"/>
              <a:t>(American College of Rheumatology, ACR)</a:t>
            </a:r>
            <a:r>
              <a:rPr lang="zh-TW" altLang="en-US" dirty="0"/>
              <a:t>制定的標準，用來衡量治療類風濕性關節炎或其他發炎性關節炎</a:t>
            </a:r>
            <a:r>
              <a:rPr lang="en-US" altLang="zh-TW" dirty="0"/>
              <a:t>(</a:t>
            </a:r>
            <a:r>
              <a:rPr lang="zh-TW" altLang="en-US" dirty="0"/>
              <a:t>如乾癬性關節炎</a:t>
            </a:r>
            <a:r>
              <a:rPr lang="en-US" altLang="zh-TW" dirty="0"/>
              <a:t>)</a:t>
            </a:r>
            <a:r>
              <a:rPr lang="zh-TW" altLang="en-US" dirty="0"/>
              <a:t>的藥物療效。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梅約評分總共有四個分項，每項分數從 </a:t>
            </a:r>
            <a:r>
              <a:rPr lang="en-US" altLang="zh-TW" dirty="0"/>
              <a:t>0 </a:t>
            </a:r>
            <a:r>
              <a:rPr lang="zh-TW" altLang="en-US" dirty="0"/>
              <a:t>到 </a:t>
            </a:r>
            <a:r>
              <a:rPr lang="en-US" altLang="zh-TW" dirty="0"/>
              <a:t>3 </a:t>
            </a:r>
            <a:r>
              <a:rPr lang="zh-TW" altLang="en-US" dirty="0"/>
              <a:t>分，總分為 </a:t>
            </a:r>
            <a:r>
              <a:rPr lang="en-US" altLang="zh-TW" b="1" u="none" strike="noStrike" dirty="0">
                <a:effectLst/>
                <a:latin typeface="Arial" panose="020B0604020202020204" pitchFamily="34" charset="0"/>
              </a:rPr>
              <a:t>0 </a:t>
            </a:r>
            <a:r>
              <a:rPr lang="zh-TW" altLang="en-US" b="1" u="none" strike="noStrike" dirty="0">
                <a:effectLst/>
                <a:latin typeface="Arial" panose="020B0604020202020204" pitchFamily="34" charset="0"/>
              </a:rPr>
              <a:t>到 </a:t>
            </a:r>
            <a:r>
              <a:rPr lang="en-US" altLang="zh-TW" b="1" u="none" strike="noStrike" dirty="0">
                <a:effectLst/>
                <a:latin typeface="Arial" panose="020B0604020202020204" pitchFamily="34" charset="0"/>
              </a:rPr>
              <a:t>12 </a:t>
            </a:r>
            <a:r>
              <a:rPr lang="zh-TW" altLang="en-US" b="1" u="none" strike="noStrike" dirty="0">
                <a:effectLst/>
                <a:latin typeface="Arial" panose="020B0604020202020204" pitchFamily="34" charset="0"/>
              </a:rPr>
              <a:t>分</a:t>
            </a:r>
            <a:endParaRPr lang="en-US" altLang="zh-TW" b="1" u="none" strike="noStrike" dirty="0">
              <a:effectLst/>
              <a:latin typeface="Arial" panose="020B0604020202020204" pitchFamily="34" charset="0"/>
            </a:endParaRPr>
          </a:p>
          <a:p>
            <a:r>
              <a:rPr lang="zh-TW" altLang="en-US" dirty="0"/>
              <a:t>分數嚴重度對照</a:t>
            </a:r>
            <a:r>
              <a:rPr lang="en-US" altLang="zh-TW" dirty="0"/>
              <a:t>0 - 2 </a:t>
            </a:r>
            <a:r>
              <a:rPr lang="zh-TW" altLang="en-US" dirty="0"/>
              <a:t>分：病情緩解</a:t>
            </a:r>
            <a:r>
              <a:rPr lang="en-US" altLang="zh-TW" dirty="0"/>
              <a:t>(Remission)3 - 5 </a:t>
            </a:r>
            <a:r>
              <a:rPr lang="zh-TW" altLang="en-US" dirty="0"/>
              <a:t>分：輕度發炎</a:t>
            </a:r>
            <a:r>
              <a:rPr lang="en-US" altLang="zh-TW" dirty="0"/>
              <a:t>(Mild activity)6 - 10 </a:t>
            </a:r>
            <a:r>
              <a:rPr lang="zh-TW" altLang="en-US" dirty="0"/>
              <a:t>分：中度發炎</a:t>
            </a:r>
            <a:r>
              <a:rPr lang="en-US" altLang="zh-TW" dirty="0"/>
              <a:t>(Moderate activity)11 - 12 </a:t>
            </a:r>
            <a:r>
              <a:rPr lang="zh-TW" altLang="en-US" dirty="0"/>
              <a:t>分：重度發炎</a:t>
            </a:r>
            <a:r>
              <a:rPr lang="en-US" altLang="zh-TW" dirty="0"/>
              <a:t>(Severe activity)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5475">
              <a:defRPr/>
            </a:pPr>
            <a:fld id="{AF692A63-DA82-4897-96F1-99664FC11F1C}" type="slidenum">
              <a:rPr lang="zh-TW" altLang="en-US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pPr defTabSz="915475">
                <a:defRPr/>
              </a:pPr>
              <a:t>3</a:t>
            </a:fld>
            <a:endParaRPr lang="zh-TW" altLang="en-US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9409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療效部分先看左邊  在</a:t>
            </a:r>
            <a:r>
              <a:rPr lang="en-US" altLang="zh-TW" dirty="0"/>
              <a:t>RA</a:t>
            </a:r>
            <a:r>
              <a:rPr lang="zh-TW" altLang="en-US" dirty="0"/>
              <a:t>部分 文獻收集了</a:t>
            </a:r>
            <a:r>
              <a:rPr lang="en-US" altLang="zh-TW" dirty="0"/>
              <a:t>….</a:t>
            </a:r>
            <a:r>
              <a:rPr lang="zh-TW" altLang="en-US" dirty="0"/>
              <a:t>疾病改善度  在基礎療效上 三者無顯著差異 但在療效顯著的 </a:t>
            </a:r>
            <a:r>
              <a:rPr lang="en-US" altLang="zh-TW" dirty="0"/>
              <a:t>ACR 70</a:t>
            </a:r>
            <a:r>
              <a:rPr lang="zh-TW" altLang="en-US" dirty="0"/>
              <a:t> 部分 </a:t>
            </a:r>
            <a:r>
              <a:rPr lang="en-US" altLang="zh-TW" dirty="0"/>
              <a:t>Upadacitinib, Tofacitinib </a:t>
            </a:r>
            <a:r>
              <a:rPr lang="zh-TW" altLang="en-US" dirty="0"/>
              <a:t>表現較佳</a:t>
            </a:r>
            <a:endParaRPr lang="en-US" altLang="zh-TW" dirty="0"/>
          </a:p>
          <a:p>
            <a:r>
              <a:rPr lang="zh-TW" altLang="en-US" dirty="0"/>
              <a:t>右邊是 在</a:t>
            </a:r>
            <a:r>
              <a:rPr lang="en-US" altLang="zh-TW" dirty="0"/>
              <a:t>IBD</a:t>
            </a:r>
            <a:r>
              <a:rPr lang="zh-TW" altLang="en-US" dirty="0"/>
              <a:t>部分 文獻收集了</a:t>
            </a:r>
            <a:r>
              <a:rPr lang="en-US" altLang="zh-TW" dirty="0"/>
              <a:t>…. </a:t>
            </a:r>
            <a:r>
              <a:rPr lang="zh-TW" altLang="en-US" dirty="0"/>
              <a:t>在成效最佳的疾病緩解部分，</a:t>
            </a:r>
            <a:r>
              <a:rPr lang="en-US" altLang="zh-TW" dirty="0"/>
              <a:t>Upadacitinib</a:t>
            </a:r>
            <a:r>
              <a:rPr lang="zh-TW" altLang="en-US" dirty="0"/>
              <a:t> 表現最好 而在各療效指標成效的綜合排名上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ACR20</a:t>
            </a:r>
            <a:r>
              <a:rPr lang="zh-TW" altLang="en-US" dirty="0"/>
              <a:t>、</a:t>
            </a:r>
            <a:r>
              <a:rPr lang="en-US" altLang="zh-TW" dirty="0"/>
              <a:t>ACR50 </a:t>
            </a:r>
            <a:r>
              <a:rPr lang="zh-TW" altLang="en-US" dirty="0"/>
              <a:t>和 </a:t>
            </a:r>
            <a:r>
              <a:rPr lang="en-US" altLang="zh-TW" dirty="0"/>
              <a:t>ACR70 </a:t>
            </a:r>
            <a:r>
              <a:rPr lang="zh-TW" altLang="en-US" dirty="0"/>
              <a:t>是由美國風濕病學會</a:t>
            </a:r>
            <a:r>
              <a:rPr lang="en-US" altLang="zh-TW" dirty="0"/>
              <a:t>(American College of Rheumatology, ACR)</a:t>
            </a:r>
            <a:r>
              <a:rPr lang="zh-TW" altLang="en-US" dirty="0"/>
              <a:t>制定的標準，用來衡量治療類風濕性關節炎或其他發炎性關節炎</a:t>
            </a:r>
            <a:r>
              <a:rPr lang="en-US" altLang="zh-TW" dirty="0"/>
              <a:t>(</a:t>
            </a:r>
            <a:r>
              <a:rPr lang="zh-TW" altLang="en-US" dirty="0"/>
              <a:t>如乾癬性關節炎</a:t>
            </a:r>
            <a:r>
              <a:rPr lang="en-US" altLang="zh-TW" dirty="0"/>
              <a:t>)</a:t>
            </a:r>
            <a:r>
              <a:rPr lang="zh-TW" altLang="en-US" dirty="0"/>
              <a:t>的藥物療效。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梅約評分總共有四個分項，每項分數從 </a:t>
            </a:r>
            <a:r>
              <a:rPr lang="en-US" altLang="zh-TW" dirty="0"/>
              <a:t>0 </a:t>
            </a:r>
            <a:r>
              <a:rPr lang="zh-TW" altLang="en-US" dirty="0"/>
              <a:t>到 </a:t>
            </a:r>
            <a:r>
              <a:rPr lang="en-US" altLang="zh-TW" dirty="0"/>
              <a:t>3 </a:t>
            </a:r>
            <a:r>
              <a:rPr lang="zh-TW" altLang="en-US" dirty="0"/>
              <a:t>分，總分為 </a:t>
            </a:r>
            <a:r>
              <a:rPr lang="en-US" altLang="zh-TW" b="1" u="none" strike="noStrike" dirty="0">
                <a:effectLst/>
                <a:latin typeface="Arial" panose="020B0604020202020204" pitchFamily="34" charset="0"/>
              </a:rPr>
              <a:t>0 </a:t>
            </a:r>
            <a:r>
              <a:rPr lang="zh-TW" altLang="en-US" b="1" u="none" strike="noStrike" dirty="0">
                <a:effectLst/>
                <a:latin typeface="Arial" panose="020B0604020202020204" pitchFamily="34" charset="0"/>
              </a:rPr>
              <a:t>到 </a:t>
            </a:r>
            <a:r>
              <a:rPr lang="en-US" altLang="zh-TW" b="1" u="none" strike="noStrike" dirty="0">
                <a:effectLst/>
                <a:latin typeface="Arial" panose="020B0604020202020204" pitchFamily="34" charset="0"/>
              </a:rPr>
              <a:t>12 </a:t>
            </a:r>
            <a:r>
              <a:rPr lang="zh-TW" altLang="en-US" b="1" u="none" strike="noStrike" dirty="0">
                <a:effectLst/>
                <a:latin typeface="Arial" panose="020B0604020202020204" pitchFamily="34" charset="0"/>
              </a:rPr>
              <a:t>分</a:t>
            </a:r>
            <a:endParaRPr lang="en-US" altLang="zh-TW" b="1" u="none" strike="noStrike" dirty="0">
              <a:effectLst/>
              <a:latin typeface="Arial" panose="020B0604020202020204" pitchFamily="34" charset="0"/>
            </a:endParaRPr>
          </a:p>
          <a:p>
            <a:r>
              <a:rPr lang="zh-TW" altLang="en-US" dirty="0"/>
              <a:t>分數嚴重度對照</a:t>
            </a:r>
            <a:r>
              <a:rPr lang="en-US" altLang="zh-TW" dirty="0"/>
              <a:t>0 - 2 </a:t>
            </a:r>
            <a:r>
              <a:rPr lang="zh-TW" altLang="en-US" dirty="0"/>
              <a:t>分：病情緩解</a:t>
            </a:r>
            <a:r>
              <a:rPr lang="en-US" altLang="zh-TW" dirty="0"/>
              <a:t>(Remission)3 - 5 </a:t>
            </a:r>
            <a:r>
              <a:rPr lang="zh-TW" altLang="en-US" dirty="0"/>
              <a:t>分：輕度發炎</a:t>
            </a:r>
            <a:r>
              <a:rPr lang="en-US" altLang="zh-TW" dirty="0"/>
              <a:t>(Mild activity)6 - 10 </a:t>
            </a:r>
            <a:r>
              <a:rPr lang="zh-TW" altLang="en-US" dirty="0"/>
              <a:t>分：中度發炎</a:t>
            </a:r>
            <a:r>
              <a:rPr lang="en-US" altLang="zh-TW" dirty="0"/>
              <a:t>(Moderate activity)11 - 12 </a:t>
            </a:r>
            <a:r>
              <a:rPr lang="zh-TW" altLang="en-US" dirty="0"/>
              <a:t>分：重度發炎</a:t>
            </a:r>
            <a:r>
              <a:rPr lang="en-US" altLang="zh-TW" dirty="0"/>
              <a:t>(Severe activity)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5475">
              <a:defRPr/>
            </a:pPr>
            <a:fld id="{AF692A63-DA82-4897-96F1-99664FC11F1C}" type="slidenum">
              <a:rPr lang="zh-TW" altLang="en-US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pPr defTabSz="915475">
                <a:defRPr/>
              </a:pPr>
              <a:t>4</a:t>
            </a:fld>
            <a:endParaRPr lang="zh-TW" altLang="en-US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0864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療效部分先看左邊  在</a:t>
            </a:r>
            <a:r>
              <a:rPr lang="en-US" altLang="zh-TW" dirty="0"/>
              <a:t>RA</a:t>
            </a:r>
            <a:r>
              <a:rPr lang="zh-TW" altLang="en-US" dirty="0"/>
              <a:t>部分 文獻收集了</a:t>
            </a:r>
            <a:r>
              <a:rPr lang="en-US" altLang="zh-TW" dirty="0"/>
              <a:t>….</a:t>
            </a:r>
            <a:r>
              <a:rPr lang="zh-TW" altLang="en-US" dirty="0"/>
              <a:t>疾病改善度  在基礎療效上 三者無顯著差異 但在療效顯著的 </a:t>
            </a:r>
            <a:r>
              <a:rPr lang="en-US" altLang="zh-TW" dirty="0"/>
              <a:t>ACR 70</a:t>
            </a:r>
            <a:r>
              <a:rPr lang="zh-TW" altLang="en-US" dirty="0"/>
              <a:t> 部分 </a:t>
            </a:r>
            <a:r>
              <a:rPr lang="en-US" altLang="zh-TW" dirty="0"/>
              <a:t>Upadacitinib, Tofacitinib </a:t>
            </a:r>
            <a:r>
              <a:rPr lang="zh-TW" altLang="en-US" dirty="0"/>
              <a:t>表現較佳</a:t>
            </a:r>
            <a:endParaRPr lang="en-US" altLang="zh-TW" dirty="0"/>
          </a:p>
          <a:p>
            <a:r>
              <a:rPr lang="zh-TW" altLang="en-US" dirty="0"/>
              <a:t>右邊是 在</a:t>
            </a:r>
            <a:r>
              <a:rPr lang="en-US" altLang="zh-TW" dirty="0"/>
              <a:t>IBD</a:t>
            </a:r>
            <a:r>
              <a:rPr lang="zh-TW" altLang="en-US" dirty="0"/>
              <a:t>部分 文獻收集了</a:t>
            </a:r>
            <a:r>
              <a:rPr lang="en-US" altLang="zh-TW" dirty="0"/>
              <a:t>…. </a:t>
            </a:r>
            <a:r>
              <a:rPr lang="zh-TW" altLang="en-US" dirty="0"/>
              <a:t>在成效最佳的疾病緩解部分，</a:t>
            </a:r>
            <a:r>
              <a:rPr lang="en-US" altLang="zh-TW" dirty="0"/>
              <a:t>Upadacitinib</a:t>
            </a:r>
            <a:r>
              <a:rPr lang="zh-TW" altLang="en-US" dirty="0"/>
              <a:t> 表現最好 而在各療效指標成效的綜合排名上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ACR20</a:t>
            </a:r>
            <a:r>
              <a:rPr lang="zh-TW" altLang="en-US" dirty="0"/>
              <a:t>、</a:t>
            </a:r>
            <a:r>
              <a:rPr lang="en-US" altLang="zh-TW" dirty="0"/>
              <a:t>ACR50 </a:t>
            </a:r>
            <a:r>
              <a:rPr lang="zh-TW" altLang="en-US" dirty="0"/>
              <a:t>和 </a:t>
            </a:r>
            <a:r>
              <a:rPr lang="en-US" altLang="zh-TW" dirty="0"/>
              <a:t>ACR70 </a:t>
            </a:r>
            <a:r>
              <a:rPr lang="zh-TW" altLang="en-US" dirty="0"/>
              <a:t>是由美國風濕病學會</a:t>
            </a:r>
            <a:r>
              <a:rPr lang="en-US" altLang="zh-TW" dirty="0"/>
              <a:t>(American College of Rheumatology, ACR)</a:t>
            </a:r>
            <a:r>
              <a:rPr lang="zh-TW" altLang="en-US" dirty="0"/>
              <a:t>制定的標準，用來衡量治療類風濕性關節炎或其他發炎性關節炎</a:t>
            </a:r>
            <a:r>
              <a:rPr lang="en-US" altLang="zh-TW" dirty="0"/>
              <a:t>(</a:t>
            </a:r>
            <a:r>
              <a:rPr lang="zh-TW" altLang="en-US" dirty="0"/>
              <a:t>如乾癬性關節炎</a:t>
            </a:r>
            <a:r>
              <a:rPr lang="en-US" altLang="zh-TW" dirty="0"/>
              <a:t>)</a:t>
            </a:r>
            <a:r>
              <a:rPr lang="zh-TW" altLang="en-US" dirty="0"/>
              <a:t>的藥物療效。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梅約評分總共有四個分項，每項分數從 </a:t>
            </a:r>
            <a:r>
              <a:rPr lang="en-US" altLang="zh-TW" dirty="0"/>
              <a:t>0 </a:t>
            </a:r>
            <a:r>
              <a:rPr lang="zh-TW" altLang="en-US" dirty="0"/>
              <a:t>到 </a:t>
            </a:r>
            <a:r>
              <a:rPr lang="en-US" altLang="zh-TW" dirty="0"/>
              <a:t>3 </a:t>
            </a:r>
            <a:r>
              <a:rPr lang="zh-TW" altLang="en-US" dirty="0"/>
              <a:t>分，總分為 </a:t>
            </a:r>
            <a:r>
              <a:rPr lang="en-US" altLang="zh-TW" b="1" u="none" strike="noStrike" dirty="0">
                <a:effectLst/>
                <a:latin typeface="Arial" panose="020B0604020202020204" pitchFamily="34" charset="0"/>
              </a:rPr>
              <a:t>0 </a:t>
            </a:r>
            <a:r>
              <a:rPr lang="zh-TW" altLang="en-US" b="1" u="none" strike="noStrike" dirty="0">
                <a:effectLst/>
                <a:latin typeface="Arial" panose="020B0604020202020204" pitchFamily="34" charset="0"/>
              </a:rPr>
              <a:t>到 </a:t>
            </a:r>
            <a:r>
              <a:rPr lang="en-US" altLang="zh-TW" b="1" u="none" strike="noStrike" dirty="0">
                <a:effectLst/>
                <a:latin typeface="Arial" panose="020B0604020202020204" pitchFamily="34" charset="0"/>
              </a:rPr>
              <a:t>12 </a:t>
            </a:r>
            <a:r>
              <a:rPr lang="zh-TW" altLang="en-US" b="1" u="none" strike="noStrike" dirty="0">
                <a:effectLst/>
                <a:latin typeface="Arial" panose="020B0604020202020204" pitchFamily="34" charset="0"/>
              </a:rPr>
              <a:t>分</a:t>
            </a:r>
            <a:endParaRPr lang="en-US" altLang="zh-TW" b="1" u="none" strike="noStrike" dirty="0">
              <a:effectLst/>
              <a:latin typeface="Arial" panose="020B0604020202020204" pitchFamily="34" charset="0"/>
            </a:endParaRPr>
          </a:p>
          <a:p>
            <a:r>
              <a:rPr lang="zh-TW" altLang="en-US" dirty="0"/>
              <a:t>分數嚴重度對照</a:t>
            </a:r>
            <a:r>
              <a:rPr lang="en-US" altLang="zh-TW" dirty="0"/>
              <a:t>0 - 2 </a:t>
            </a:r>
            <a:r>
              <a:rPr lang="zh-TW" altLang="en-US" dirty="0"/>
              <a:t>分：病情緩解</a:t>
            </a:r>
            <a:r>
              <a:rPr lang="en-US" altLang="zh-TW" dirty="0"/>
              <a:t>(Remission)3 - 5 </a:t>
            </a:r>
            <a:r>
              <a:rPr lang="zh-TW" altLang="en-US" dirty="0"/>
              <a:t>分：輕度發炎</a:t>
            </a:r>
            <a:r>
              <a:rPr lang="en-US" altLang="zh-TW" dirty="0"/>
              <a:t>(Mild activity)6 - 10 </a:t>
            </a:r>
            <a:r>
              <a:rPr lang="zh-TW" altLang="en-US" dirty="0"/>
              <a:t>分：中度發炎</a:t>
            </a:r>
            <a:r>
              <a:rPr lang="en-US" altLang="zh-TW" dirty="0"/>
              <a:t>(Moderate activity)11 - 12 </a:t>
            </a:r>
            <a:r>
              <a:rPr lang="zh-TW" altLang="en-US" dirty="0"/>
              <a:t>分：重度發炎</a:t>
            </a:r>
            <a:r>
              <a:rPr lang="en-US" altLang="zh-TW" dirty="0"/>
              <a:t>(Severe activity)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5475">
              <a:defRPr/>
            </a:pPr>
            <a:fld id="{AF692A63-DA82-4897-96F1-99664FC11F1C}" type="slidenum">
              <a:rPr lang="zh-TW" altLang="en-US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pPr defTabSz="915475">
                <a:defRPr/>
              </a:pPr>
              <a:t>5</a:t>
            </a:fld>
            <a:endParaRPr lang="zh-TW" altLang="en-US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43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安全性參考 </a:t>
            </a:r>
            <a:r>
              <a:rPr lang="en-US" altLang="zh-TW" dirty="0"/>
              <a:t>2026</a:t>
            </a:r>
            <a:r>
              <a:rPr lang="zh-TW" altLang="en-US" dirty="0"/>
              <a:t>的日本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的一項多中心的世代研究 收</a:t>
            </a:r>
            <a:endParaRPr lang="en-US" altLang="zh-TW" b="0" i="0" dirty="0">
              <a:solidFill>
                <a:srgbClr val="D93025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錄了</a:t>
            </a:r>
            <a:r>
              <a:rPr lang="en-US" altLang="zh-TW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765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位</a:t>
            </a:r>
            <a:r>
              <a:rPr lang="en-US" altLang="zh-TW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RA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病人 多為女性 研究期達</a:t>
            </a:r>
            <a:r>
              <a:rPr lang="en-US" altLang="zh-TW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18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個月</a:t>
            </a:r>
            <a:endParaRPr lang="en-US" altLang="zh-TW" b="0" i="0" dirty="0">
              <a:solidFill>
                <a:srgbClr val="D93025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圖是研究期中 病人使用不同 </a:t>
            </a:r>
            <a:r>
              <a:rPr lang="en-US" altLang="zh-TW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JAKI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 發生帶狀皰疹的狀況，五個藥品中，風險最低的是最上面藍線，使用</a:t>
            </a:r>
            <a:r>
              <a:rPr lang="en-US" altLang="zh-TW" b="0" i="0" dirty="0" err="1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Filgotinib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的族群</a:t>
            </a:r>
            <a:endParaRPr lang="en-US" altLang="zh-TW" b="0" i="0" dirty="0">
              <a:solidFill>
                <a:srgbClr val="D93025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圖是因發生帶狀疱疹而停藥的 </a:t>
            </a:r>
            <a:r>
              <a:rPr lang="en-US" altLang="zh-TW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Drug Retention Rate</a:t>
            </a:r>
            <a:r>
              <a:rPr lang="zh-TW" altLang="en-US" b="0" i="0" dirty="0">
                <a:solidFill>
                  <a:srgbClr val="D93025"/>
                </a:solidFill>
                <a:effectLst/>
                <a:latin typeface="Arial" panose="020B0604020202020204" pitchFamily="34" charset="0"/>
              </a:rPr>
              <a:t> 藥物留存曲線，縱軸的 </a:t>
            </a:r>
            <a:r>
              <a:rPr lang="en-US" altLang="zh-TW" dirty="0"/>
              <a:t>1 </a:t>
            </a:r>
            <a:r>
              <a:rPr lang="zh-TW" altLang="en-US" dirty="0"/>
              <a:t>代表 </a:t>
            </a:r>
            <a:r>
              <a:rPr lang="en-US" altLang="zh-TW" dirty="0"/>
              <a:t>100% </a:t>
            </a:r>
            <a:r>
              <a:rPr lang="zh-TW" altLang="en-US" dirty="0"/>
              <a:t>仍持續用藥，在追蹤 </a:t>
            </a:r>
            <a:r>
              <a:rPr lang="en-US" altLang="zh-TW" dirty="0"/>
              <a:t>20 </a:t>
            </a:r>
            <a:r>
              <a:rPr lang="zh-TW" altLang="en-US" dirty="0"/>
              <a:t>個月期間， </a:t>
            </a:r>
            <a:r>
              <a:rPr lang="en-US" altLang="zh-TW" dirty="0"/>
              <a:t>5 </a:t>
            </a:r>
            <a:r>
              <a:rPr lang="zh-TW" altLang="en-US" dirty="0"/>
              <a:t>款 </a:t>
            </a:r>
            <a:r>
              <a:rPr lang="en-US" altLang="zh-TW" dirty="0" err="1"/>
              <a:t>JAKi</a:t>
            </a:r>
            <a:r>
              <a:rPr lang="en-US" altLang="zh-TW" dirty="0"/>
              <a:t> </a:t>
            </a:r>
            <a:r>
              <a:rPr lang="zh-TW" altLang="en-US" dirty="0"/>
              <a:t>的留存曲線均在 </a:t>
            </a:r>
            <a:r>
              <a:rPr lang="en-US" altLang="zh-TW" dirty="0"/>
              <a:t>0.95 </a:t>
            </a:r>
            <a:r>
              <a:rPr lang="zh-TW" altLang="en-US" dirty="0"/>
              <a:t>至 </a:t>
            </a:r>
            <a:r>
              <a:rPr lang="en-US" altLang="zh-TW" dirty="0"/>
              <a:t>1.0(95%–100%)</a:t>
            </a:r>
            <a:r>
              <a:rPr lang="zh-TW" altLang="en-US" dirty="0"/>
              <a:t> 的區間。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5475">
              <a:defRPr/>
            </a:pPr>
            <a:fld id="{AF692A63-DA82-4897-96F1-99664FC11F1C}" type="slidenum">
              <a:rPr lang="zh-TW" altLang="en-US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pPr defTabSz="915475">
                <a:defRPr/>
              </a:pPr>
              <a:t>6</a:t>
            </a:fld>
            <a:endParaRPr lang="zh-TW" altLang="en-US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1701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5497">
              <a:defRPr/>
            </a:pPr>
            <a:fld id="{B5D803F8-9915-4981-8B5A-C38699E88DEF}" type="slidenum">
              <a:rPr lang="zh-TW" altLang="en-US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pPr defTabSz="915497">
                <a:defRPr/>
              </a:pPr>
              <a:t>7</a:t>
            </a:fld>
            <a:endParaRPr lang="zh-TW" altLang="en-US">
              <a:solidFill>
                <a:prstClr val="black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8433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Rinvoq</a:t>
            </a:r>
            <a:r>
              <a:rPr lang="zh-TW" altLang="en-US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跟 </a:t>
            </a:r>
            <a:r>
              <a:rPr lang="en-US" altLang="zh-TW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Xeljanz</a:t>
            </a:r>
            <a:r>
              <a:rPr lang="zh-TW" altLang="en-US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適應症比較廣   研究顯示</a:t>
            </a:r>
            <a:r>
              <a:rPr lang="en-US" altLang="zh-TW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….</a:t>
            </a:r>
          </a:p>
          <a:p>
            <a:pPr algn="l"/>
            <a:r>
              <a:rPr lang="zh-TW" altLang="en-US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用法上 三種藥都是</a:t>
            </a:r>
            <a:r>
              <a:rPr lang="en-US" altLang="zh-TW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qd</a:t>
            </a:r>
            <a:r>
              <a:rPr lang="zh-TW" altLang="en-US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使用 劑量調整上</a:t>
            </a:r>
            <a:r>
              <a:rPr lang="en-US" altLang="zh-TW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Jyseleca</a:t>
            </a:r>
            <a:r>
              <a:rPr lang="zh-TW" altLang="en-US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在特定族群須減半量使用  </a:t>
            </a:r>
            <a:r>
              <a:rPr lang="en-US" altLang="zh-TW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Xeljanz</a:t>
            </a:r>
            <a:r>
              <a:rPr lang="zh-TW" altLang="en-US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也要減量但可以用於</a:t>
            </a:r>
            <a:r>
              <a:rPr lang="en-US" altLang="zh-TW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esrd</a:t>
            </a:r>
            <a:r>
              <a:rPr lang="zh-TW" altLang="en-US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病人</a:t>
            </a:r>
            <a:endParaRPr lang="en-US" altLang="zh-TW" sz="1200" b="1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5475">
              <a:defRPr/>
            </a:pPr>
            <a:fld id="{AF692A63-DA82-4897-96F1-99664FC11F1C}" type="slidenum">
              <a:rPr lang="zh-TW" altLang="en-US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pPr defTabSz="915475">
                <a:defRPr/>
              </a:pPr>
              <a:t>8</a:t>
            </a:fld>
            <a:endParaRPr lang="zh-TW" altLang="en-US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4677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5497">
              <a:defRPr/>
            </a:pPr>
            <a:fld id="{B5D803F8-9915-4981-8B5A-C38699E88DEF}" type="slidenum">
              <a:rPr lang="zh-TW" altLang="en-US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pPr defTabSz="915497">
                <a:defRPr/>
              </a:pPr>
              <a:t>9</a:t>
            </a:fld>
            <a:endParaRPr lang="zh-TW" altLang="en-US">
              <a:solidFill>
                <a:prstClr val="black"/>
              </a:solidFill>
              <a:latin typeface="Aptos" panose="0211000402020202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6717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1918">
              <a:defRPr/>
            </a:pPr>
            <a:fld id="{AF692A63-DA82-4897-96F1-99664FC11F1C}" type="slidenum">
              <a:rPr lang="zh-TW" altLang="en-US">
                <a:solidFill>
                  <a:prstClr val="black"/>
                </a:solidFill>
                <a:latin typeface="Calibri"/>
                <a:ea typeface="新細明體" panose="02020500000000000000" pitchFamily="18" charset="-120"/>
              </a:rPr>
              <a:pPr defTabSz="991918">
                <a:defRPr/>
              </a:pPr>
              <a:t>10</a:t>
            </a:fld>
            <a:endParaRPr lang="zh-TW" altLang="en-US">
              <a:solidFill>
                <a:prstClr val="black"/>
              </a:solidFill>
              <a:latin typeface="Calibri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7542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50A0-83C5-4170-B2B9-D793B8F9CCFD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71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85468"/>
            <a:ext cx="8496944" cy="857507"/>
          </a:xfrm>
        </p:spPr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987574"/>
            <a:ext cx="8496944" cy="3779689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E3BA-7990-4782-A59F-083A96D0BD4F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8D4C7FC8-3A1A-4426-93E5-945FB428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851066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88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BC37-358C-4719-A361-33591072EF27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4BCC68F4-D73E-4D2C-B15D-A75B810B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0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713-4D25-49E0-8C8E-607B4E861DA5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D900C6A3-CBD6-4934-A687-D7F2515F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16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076D-B99D-4EC9-BC9B-CE19DFD542C0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3062EA60-4820-41CC-B393-EFE39096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13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55E07-3567-4037-8D33-0BADFC171C50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0722D7-EB0A-469F-8CF6-AEEC397B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84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FF7A-D6B7-4311-85C2-0B9F12BCC699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id="{245FEBF6-3B76-4D3B-B7F8-D12022C5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482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732B2-EC3C-44B0-B787-AD6E9062D16B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D2B18E13-58C4-4118-B568-F5F82D296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02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E56A0-F5C9-44C2-9499-8D6011E7F65E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137E07B-3D22-4B65-8286-2F443B15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479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138D-0F30-417B-83F3-4088ABCB8E99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676B23EE-975C-4BAC-9C34-9EF6D586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26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3C4C-0A1F-4E26-9DA7-641DFC7BC161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95A2C7B0-F619-4275-B201-985C82E0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60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95536" y="273844"/>
            <a:ext cx="8496944" cy="64172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536" y="987574"/>
            <a:ext cx="8496944" cy="381642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4844342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685800"/>
            <a:fld id="{1C8EA17A-B529-49AA-883E-81E564F03BDE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2026/9/10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4844342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685800"/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73CFF817-651F-48DD-94BA-2A1568F12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3207" y="484434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defTabSz="685800"/>
            <a:fld id="{B287D16E-1BE4-4ED0-A269-307B9D14B6A6}" type="slidenum">
              <a:rPr lang="zh-TW" altLang="en-US" smtClean="0">
                <a:solidFill>
                  <a:prstClr val="white">
                    <a:lumMod val="50000"/>
                  </a:prstClr>
                </a:solidFill>
              </a:rPr>
              <a:pPr defTabSz="685800"/>
              <a:t>‹#›</a:t>
            </a:fld>
            <a:endParaRPr lang="zh-TW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15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1450" algn="l" defTabSz="6858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71450" algn="l" defTabSz="6858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tabLst>
          <a:tab pos="538163" algn="l"/>
        </a:tabLst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71450" algn="l" defTabSz="6858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93763" indent="-171450" algn="l" defTabSz="685800" rtl="0" eaLnBrk="1" latinLnBrk="0" hangingPunct="1">
        <a:lnSpc>
          <a:spcPct val="114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C303-71F2-17FB-DE51-789655A8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3">
            <a:extLst>
              <a:ext uri="{FF2B5EF4-FFF2-40B4-BE49-F238E27FC236}">
                <a16:creationId xmlns:a16="http://schemas.microsoft.com/office/drawing/2014/main" id="{39BB4101-78F4-CBC0-E004-F71D467C6D45}"/>
              </a:ext>
            </a:extLst>
          </p:cNvPr>
          <p:cNvSpPr txBox="1">
            <a:spLocks/>
          </p:cNvSpPr>
          <p:nvPr/>
        </p:nvSpPr>
        <p:spPr>
          <a:xfrm>
            <a:off x="1562878" y="2043405"/>
            <a:ext cx="5724330" cy="1462574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B2016023-452E-5275-9DCA-88AE18167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116682"/>
            <a:ext cx="8485585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sz="3200" b="1" dirty="0"/>
              <a:t>新進藥品評估</a:t>
            </a:r>
            <a:r>
              <a:rPr lang="en-US" altLang="zh-TW" sz="3200" b="1" dirty="0"/>
              <a:t>-</a:t>
            </a:r>
            <a:r>
              <a:rPr lang="zh-TW" altLang="en-US" sz="3200" b="1" dirty="0"/>
              <a:t>案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9E316A-8D09-8457-210F-5C99EB37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5160" y="4647957"/>
            <a:ext cx="2057400" cy="273844"/>
          </a:xfrm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002972-A12B-410C-BD04-EF6D20C80266}" type="slidenum">
              <a:rPr kumimoji="0" lang="zh-TW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5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>
            <a:extLst>
              <a:ext uri="{FF2B5EF4-FFF2-40B4-BE49-F238E27FC236}">
                <a16:creationId xmlns:a16="http://schemas.microsoft.com/office/drawing/2014/main" id="{2A45E787-4FFD-5E93-180E-81ACB0D0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116682"/>
            <a:ext cx="8485585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sz="3200" b="1" dirty="0"/>
              <a:t>申請總表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993731" y="4767263"/>
            <a:ext cx="2057400" cy="273844"/>
          </a:xfrm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7D16E-1BE4-4ED0-A269-307B9D14B6A6}" type="slidenum">
              <a:rPr kumimoji="0" lang="zh-TW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97733"/>
              </p:ext>
            </p:extLst>
          </p:nvPr>
        </p:nvGraphicFramePr>
        <p:xfrm>
          <a:off x="353072" y="1132599"/>
          <a:ext cx="8502728" cy="29217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82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56010472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97970686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7795181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054661437"/>
                    </a:ext>
                  </a:extLst>
                </a:gridCol>
                <a:gridCol w="2484000">
                  <a:extLst>
                    <a:ext uri="{9D8B030D-6E8A-4147-A177-3AD203B41FA5}">
                      <a16:colId xmlns:a16="http://schemas.microsoft.com/office/drawing/2014/main" val="298030822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藥名 </a:t>
                      </a:r>
                      <a:r>
                        <a:rPr lang="en-US" altLang="zh-TW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TW" altLang="en-US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學名</a:t>
                      </a:r>
                      <a:r>
                        <a:rPr lang="en-US" altLang="zh-TW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lang="zh-TW" altLang="zh-TW" sz="1200" b="1" kern="1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>
                          <a:solidFill>
                            <a:schemeClr val="bg1"/>
                          </a:solidFill>
                        </a:rPr>
                        <a:t>劑量</a:t>
                      </a:r>
                      <a:r>
                        <a:rPr lang="en-US" altLang="zh-TW" sz="1200" b="1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TW" altLang="en-US" sz="1200" b="1">
                          <a:solidFill>
                            <a:schemeClr val="bg1"/>
                          </a:solidFill>
                        </a:rPr>
                        <a:t>劑型</a:t>
                      </a:r>
                      <a:endParaRPr lang="zh-TW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</a:rPr>
                        <a:t>作用機轉</a:t>
                      </a:r>
                      <a:endParaRPr lang="zh-TW" altLang="en-US" sz="1200" dirty="0"/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健保</a:t>
                      </a:r>
                      <a:r>
                        <a:rPr lang="zh-TW" altLang="zh-TW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價</a:t>
                      </a:r>
                      <a:r>
                        <a:rPr lang="en-US" altLang="zh-TW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TW" altLang="en-US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藥價</a:t>
                      </a:r>
                      <a:endParaRPr lang="zh-TW" altLang="en-US" sz="1200" dirty="0"/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須取代藥品</a:t>
                      </a:r>
                      <a:endParaRPr lang="zh-TW" altLang="zh-TW" sz="1200" b="1" kern="1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kern="1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同類藥品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441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  <a:tabLst/>
                        <a:defRPr/>
                      </a:pPr>
                      <a:endParaRPr lang="zh-TW" altLang="zh-TW" sz="1200" kern="1200" dirty="0"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200" dirty="0"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</a:pPr>
                      <a:endParaRPr lang="en-US" altLang="zh-TW" sz="1200" b="0" dirty="0">
                        <a:solidFill>
                          <a:srgbClr val="1F1F1F"/>
                        </a:solidFill>
                        <a:latin typeface="+mn-lt"/>
                        <a:ea typeface="微軟正黑體" panose="020B0604030504040204" pitchFamily="34" charset="-120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  <a:tabLst/>
                        <a:defRPr/>
                      </a:pPr>
                      <a:endParaRPr lang="en-US" altLang="zh-TW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u="none" strike="noStrike" kern="1200" cap="none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  <a:sym typeface="Calibri"/>
                        </a:rPr>
                        <a:t>衛福部適應症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  <a:tabLst/>
                        <a:defRPr/>
                      </a:pPr>
                      <a:endParaRPr lang="zh-TW" altLang="en-US" sz="1050" b="1" u="none" strike="noStrike" kern="1200" cap="none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200" b="1" u="none" strike="noStrike" cap="none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  <a:sym typeface="Microsoft JhengHei"/>
                        </a:rPr>
                        <a:t>申請理由 </a:t>
                      </a:r>
                      <a:r>
                        <a:rPr lang="en-US" altLang="zh-TW" sz="1200" b="1" u="none" strike="noStrike" cap="none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  <a:sym typeface="Microsoft JhengHei"/>
                        </a:rPr>
                        <a:t>(</a:t>
                      </a:r>
                      <a:r>
                        <a:rPr lang="zh-TW" altLang="en-US" sz="1200" b="1" u="none" strike="noStrike" cap="none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  <a:sym typeface="Microsoft JhengHei"/>
                        </a:rPr>
                        <a:t>提藥醫師</a:t>
                      </a:r>
                      <a:r>
                        <a:rPr lang="zh-TW" altLang="en-US" sz="1200" b="1" u="none" strike="noStrike" kern="1200" cap="none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  <a:sym typeface="Microsoft JhengHei"/>
                        </a:rPr>
                        <a:t>：*******</a:t>
                      </a:r>
                      <a:r>
                        <a:rPr lang="zh-TW" altLang="en-US" sz="1200" b="1" u="none" strike="noStrike" kern="1200" cap="none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  <a:sym typeface="Calibri"/>
                        </a:rPr>
                        <a:t>科 ***醫師</a:t>
                      </a:r>
                      <a:r>
                        <a:rPr lang="en-US" altLang="zh-TW" sz="1200" b="1" u="none" strike="noStrike" kern="1200" cap="none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  <a:sym typeface="Microsoft JhengHei"/>
                        </a:rPr>
                        <a:t>)</a:t>
                      </a:r>
                      <a:endParaRPr lang="zh-TW" altLang="en-US" dirty="0"/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lang="en-US" altLang="zh-TW" sz="1600" b="0" i="0" u="none" strike="noStrike" kern="1200" cap="none" baseline="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0" marR="121900" marT="121900" marB="1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028730"/>
                  </a:ext>
                </a:extLst>
              </a:tr>
              <a:tr h="169200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endParaRPr lang="zh-TW" altLang="en-US" sz="1200" b="0" kern="1200" dirty="0"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44000" marR="0" lvl="0" indent="-14400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+mj-lt"/>
                        <a:buAutoNum type="arabicPeriod"/>
                        <a:tabLst/>
                        <a:defRPr/>
                      </a:pPr>
                      <a:endParaRPr lang="zh-TW" altLang="en-US" sz="1000" dirty="0"/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+mj-lt"/>
                        <a:buAutoNum type="arabicPeriod"/>
                        <a:tabLst/>
                        <a:defRPr/>
                      </a:pPr>
                      <a:endParaRPr lang="zh-TW" altLang="en-US" sz="1050" b="0" kern="1200" dirty="0"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lang="en-US" altLang="zh-TW" sz="1600" b="0" i="0" u="none" strike="noStrike" kern="1200" cap="none" baseline="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00" marR="121900" marT="121900" marB="1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83446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6B4B7F3A-A824-839D-8769-C93CF9837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26" y="437855"/>
            <a:ext cx="26321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477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BEB708B-3E54-2C4B-8ED1-D68FB964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16681"/>
            <a:ext cx="7886700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sz="3200" b="1" dirty="0"/>
              <a:t>療效</a:t>
            </a:r>
            <a:r>
              <a:rPr lang="en-US" altLang="zh-TW" sz="3200" b="1" dirty="0"/>
              <a:t>-</a:t>
            </a:r>
            <a:r>
              <a:rPr lang="zh-TW" altLang="en-US" sz="3200" dirty="0">
                <a:solidFill>
                  <a:srgbClr val="A62E37"/>
                </a:solidFill>
              </a:rPr>
              <a:t>機轉</a:t>
            </a:r>
            <a:endParaRPr lang="zh-TW" altLang="en-US" sz="3200" b="1" dirty="0">
              <a:solidFill>
                <a:srgbClr val="A62E37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1FF1A0-DFEB-8941-8B33-D6C7199F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121" y="4746260"/>
            <a:ext cx="2057400" cy="273844"/>
          </a:xfrm>
        </p:spPr>
        <p:txBody>
          <a:bodyPr/>
          <a:lstStyle/>
          <a:p>
            <a:pPr defTabSz="685800"/>
            <a:fld id="{4C002972-A12B-410C-BD04-EF6D20C80266}" type="slidenum">
              <a:rPr lang="zh-TW" altLang="en-US">
                <a:solidFill>
                  <a:prstClr val="white">
                    <a:lumMod val="50000"/>
                  </a:prstClr>
                </a:solidFill>
                <a:latin typeface="Arial"/>
                <a:ea typeface="微軟正黑體"/>
              </a:rPr>
              <a:pPr defTabSz="685800"/>
              <a:t>3</a:t>
            </a:fld>
            <a:endParaRPr lang="zh-TW" altLang="en-US" dirty="0">
              <a:solidFill>
                <a:prstClr val="white">
                  <a:lumMod val="50000"/>
                </a:prstClr>
              </a:solidFill>
              <a:latin typeface="Arial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7631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BEB708B-3E54-2C4B-8ED1-D68FB964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16681"/>
            <a:ext cx="7886700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sz="3200" b="1" dirty="0"/>
              <a:t>療效</a:t>
            </a:r>
            <a:r>
              <a:rPr lang="en-US" altLang="zh-TW" sz="3200" b="1" dirty="0"/>
              <a:t>-</a:t>
            </a:r>
            <a:r>
              <a:rPr lang="zh-TW" altLang="en-US" sz="3200" dirty="0">
                <a:solidFill>
                  <a:srgbClr val="A62E37"/>
                </a:solidFill>
              </a:rPr>
              <a:t>指引</a:t>
            </a:r>
            <a:endParaRPr lang="zh-TW" altLang="en-US" sz="3200" b="1" dirty="0">
              <a:solidFill>
                <a:srgbClr val="A62E37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1FF1A0-DFEB-8941-8B33-D6C7199F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121" y="4746260"/>
            <a:ext cx="2057400" cy="273844"/>
          </a:xfrm>
        </p:spPr>
        <p:txBody>
          <a:bodyPr/>
          <a:lstStyle/>
          <a:p>
            <a:pPr defTabSz="685800"/>
            <a:fld id="{4C002972-A12B-410C-BD04-EF6D20C80266}" type="slidenum">
              <a:rPr lang="zh-TW" altLang="en-US">
                <a:solidFill>
                  <a:prstClr val="white">
                    <a:lumMod val="50000"/>
                  </a:prstClr>
                </a:solidFill>
                <a:latin typeface="Arial"/>
                <a:ea typeface="微軟正黑體"/>
              </a:rPr>
              <a:pPr defTabSz="685800"/>
              <a:t>4</a:t>
            </a:fld>
            <a:endParaRPr lang="zh-TW" altLang="en-US" dirty="0">
              <a:solidFill>
                <a:prstClr val="white">
                  <a:lumMod val="50000"/>
                </a:prstClr>
              </a:solidFill>
              <a:latin typeface="Arial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2702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BEB708B-3E54-2C4B-8ED1-D68FB964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16681"/>
            <a:ext cx="7886700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sz="3200" b="1" dirty="0"/>
              <a:t>療效</a:t>
            </a:r>
            <a:r>
              <a:rPr lang="en-US" altLang="zh-TW" sz="3200" b="1" dirty="0"/>
              <a:t>-</a:t>
            </a:r>
            <a:r>
              <a:rPr lang="zh-TW" altLang="en-US" sz="3200" dirty="0">
                <a:solidFill>
                  <a:srgbClr val="A62E37"/>
                </a:solidFill>
              </a:rPr>
              <a:t>文獻</a:t>
            </a:r>
            <a:endParaRPr lang="zh-TW" altLang="en-US" sz="3200" b="1" dirty="0">
              <a:solidFill>
                <a:srgbClr val="A62E37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1FF1A0-DFEB-8941-8B33-D6C7199F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121" y="4746260"/>
            <a:ext cx="2057400" cy="273844"/>
          </a:xfrm>
        </p:spPr>
        <p:txBody>
          <a:bodyPr/>
          <a:lstStyle/>
          <a:p>
            <a:pPr defTabSz="685800"/>
            <a:fld id="{4C002972-A12B-410C-BD04-EF6D20C80266}" type="slidenum">
              <a:rPr lang="zh-TW" altLang="en-US">
                <a:solidFill>
                  <a:prstClr val="white">
                    <a:lumMod val="50000"/>
                  </a:prstClr>
                </a:solidFill>
                <a:latin typeface="Arial"/>
                <a:ea typeface="微軟正黑體"/>
              </a:rPr>
              <a:pPr defTabSz="685800"/>
              <a:t>5</a:t>
            </a:fld>
            <a:endParaRPr lang="zh-TW" altLang="en-US" dirty="0">
              <a:solidFill>
                <a:prstClr val="white">
                  <a:lumMod val="50000"/>
                </a:prstClr>
              </a:solidFill>
              <a:latin typeface="Arial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2889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BEB708B-3E54-2C4B-8ED1-D68FB964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16681"/>
            <a:ext cx="7886700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sz="3200" dirty="0"/>
              <a:t>安全性</a:t>
            </a:r>
            <a:endParaRPr lang="zh-TW" altLang="en-US" sz="3200" dirty="0">
              <a:solidFill>
                <a:srgbClr val="A62E37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1FF1A0-DFEB-8941-8B33-D6C7199F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121" y="4746260"/>
            <a:ext cx="2057400" cy="273844"/>
          </a:xfrm>
        </p:spPr>
        <p:txBody>
          <a:bodyPr/>
          <a:lstStyle/>
          <a:p>
            <a:pPr defTabSz="685800"/>
            <a:fld id="{4C002972-A12B-410C-BD04-EF6D20C80266}" type="slidenum">
              <a:rPr lang="zh-TW" altLang="en-US">
                <a:solidFill>
                  <a:prstClr val="white">
                    <a:lumMod val="50000"/>
                  </a:prstClr>
                </a:solidFill>
                <a:latin typeface="Arial"/>
                <a:ea typeface="微軟正黑體"/>
              </a:rPr>
              <a:pPr defTabSz="685800"/>
              <a:t>6</a:t>
            </a:fld>
            <a:endParaRPr lang="zh-TW" altLang="en-US" dirty="0">
              <a:solidFill>
                <a:prstClr val="white">
                  <a:lumMod val="50000"/>
                </a:prstClr>
              </a:solidFill>
              <a:latin typeface="Arial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5065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17F5-62CC-7A07-0FBB-08A0E139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3">
            <a:extLst>
              <a:ext uri="{FF2B5EF4-FFF2-40B4-BE49-F238E27FC236}">
                <a16:creationId xmlns:a16="http://schemas.microsoft.com/office/drawing/2014/main" id="{C174E17C-8A8A-6259-FE94-D0051158B25E}"/>
              </a:ext>
            </a:extLst>
          </p:cNvPr>
          <p:cNvSpPr txBox="1">
            <a:spLocks/>
          </p:cNvSpPr>
          <p:nvPr/>
        </p:nvSpPr>
        <p:spPr>
          <a:xfrm>
            <a:off x="110338" y="117750"/>
            <a:ext cx="8641556" cy="671513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defTabSz="685800">
              <a:lnSpc>
                <a:spcPct val="90000"/>
              </a:lnSpc>
              <a:spcBef>
                <a:spcPct val="0"/>
              </a:spcBef>
              <a:buNone/>
              <a:defRPr sz="2800" b="1">
                <a:latin typeface="+mj-lt"/>
                <a:ea typeface="+mj-ea"/>
                <a:cs typeface="+mj-cs"/>
              </a:defRPr>
            </a:lvl1pPr>
          </a:lstStyle>
          <a:p>
            <a:pPr defTabSz="685783"/>
            <a:endParaRPr lang="en-US" altLang="zh-TW" dirty="0">
              <a:solidFill>
                <a:prstClr val="black"/>
              </a:solidFill>
              <a:latin typeface="Arial"/>
              <a:ea typeface="微軟正黑體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2D2F891-C3BF-8F1D-7707-D065CDFA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136" y="116682"/>
            <a:ext cx="8485094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sz="3200" b="1" dirty="0"/>
              <a:t>醫療科技評估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0BA017-94CB-8278-CDD3-35125395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4"/>
            <a:ext cx="2057400" cy="273844"/>
          </a:xfrm>
        </p:spPr>
        <p:txBody>
          <a:bodyPr/>
          <a:lstStyle/>
          <a:p>
            <a:pPr defTabSz="685800"/>
            <a:fld id="{4C002972-A12B-410C-BD04-EF6D20C80266}" type="slidenum">
              <a:rPr lang="zh-TW" altLang="en-US">
                <a:solidFill>
                  <a:prstClr val="white">
                    <a:lumMod val="50000"/>
                  </a:prstClr>
                </a:solidFill>
                <a:latin typeface="Arial"/>
                <a:ea typeface="微軟正黑體"/>
              </a:rPr>
              <a:pPr defTabSz="685800"/>
              <a:t>7</a:t>
            </a:fld>
            <a:endParaRPr lang="zh-TW" altLang="en-US" dirty="0">
              <a:solidFill>
                <a:prstClr val="white">
                  <a:lumMod val="50000"/>
                </a:prstClr>
              </a:solidFill>
              <a:latin typeface="Arial"/>
              <a:ea typeface="微軟正黑體"/>
            </a:endParaRPr>
          </a:p>
        </p:txBody>
      </p:sp>
      <p:graphicFrame>
        <p:nvGraphicFramePr>
          <p:cNvPr id="20" name="內容版面配置區 19">
            <a:extLst>
              <a:ext uri="{FF2B5EF4-FFF2-40B4-BE49-F238E27FC236}">
                <a16:creationId xmlns:a16="http://schemas.microsoft.com/office/drawing/2014/main" id="{5E1EC516-29E6-8F10-FFD6-3182698B7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994864"/>
              </p:ext>
            </p:extLst>
          </p:nvPr>
        </p:nvGraphicFramePr>
        <p:xfrm>
          <a:off x="366551" y="1131590"/>
          <a:ext cx="8410897" cy="3348177"/>
        </p:xfrm>
        <a:graphic>
          <a:graphicData uri="http://schemas.openxmlformats.org/drawingml/2006/table">
            <a:tbl>
              <a:tblPr/>
              <a:tblGrid>
                <a:gridCol w="1220044">
                  <a:extLst>
                    <a:ext uri="{9D8B030D-6E8A-4147-A177-3AD203B41FA5}">
                      <a16:colId xmlns:a16="http://schemas.microsoft.com/office/drawing/2014/main" val="4225092567"/>
                    </a:ext>
                  </a:extLst>
                </a:gridCol>
                <a:gridCol w="841805">
                  <a:extLst>
                    <a:ext uri="{9D8B030D-6E8A-4147-A177-3AD203B41FA5}">
                      <a16:colId xmlns:a16="http://schemas.microsoft.com/office/drawing/2014/main" val="3893224282"/>
                    </a:ext>
                  </a:extLst>
                </a:gridCol>
                <a:gridCol w="923042">
                  <a:extLst>
                    <a:ext uri="{9D8B030D-6E8A-4147-A177-3AD203B41FA5}">
                      <a16:colId xmlns:a16="http://schemas.microsoft.com/office/drawing/2014/main" val="1168739904"/>
                    </a:ext>
                  </a:extLst>
                </a:gridCol>
                <a:gridCol w="5426006">
                  <a:extLst>
                    <a:ext uri="{9D8B030D-6E8A-4147-A177-3AD203B41FA5}">
                      <a16:colId xmlns:a16="http://schemas.microsoft.com/office/drawing/2014/main" val="2907070702"/>
                    </a:ext>
                  </a:extLst>
                </a:gridCol>
              </a:tblGrid>
              <a:tr h="43217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Agency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Year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Verdict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Key Findings</a:t>
                      </a:r>
                      <a:endParaRPr lang="en-US" sz="1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35289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endParaRPr lang="en-US" altLang="zh-TW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endParaRPr lang="zh-TW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100" b="0" dirty="0">
                        <a:latin typeface="+mn-lt"/>
                        <a:ea typeface="+mn-ea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685800" rtl="0" eaLnBrk="1" latinLnBrk="0" hangingPunct="1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1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768994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endParaRPr 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zh-TW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751542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endParaRPr 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buFont typeface="Arial" panose="020B0604020202020204" pitchFamily="34" charset="0"/>
                        <a:buNone/>
                      </a:pPr>
                      <a:endParaRPr lang="en-US" altLang="zh-TW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1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973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A454A-6E73-D4BA-5A2C-89013C0E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FC9FB46-F3C1-F18F-398D-34E18A3B9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116682"/>
            <a:ext cx="8485585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sz="3200" b="1" dirty="0"/>
              <a:t>同類藥品比較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7C7B592-22EA-A566-8BCA-15E2F991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731" y="4767263"/>
            <a:ext cx="2057400" cy="273844"/>
          </a:xfrm>
        </p:spPr>
        <p:txBody>
          <a:bodyPr/>
          <a:lstStyle/>
          <a:p>
            <a:pPr defTabSz="685800"/>
            <a:fld id="{4C002972-A12B-410C-BD04-EF6D20C80266}" type="slidenum">
              <a:rPr lang="zh-TW" altLang="en-US">
                <a:solidFill>
                  <a:prstClr val="white">
                    <a:lumMod val="50000"/>
                  </a:prstClr>
                </a:solidFill>
                <a:latin typeface="Arial"/>
                <a:ea typeface="微軟正黑體"/>
              </a:rPr>
              <a:pPr defTabSz="685800"/>
              <a:t>8</a:t>
            </a:fld>
            <a:endParaRPr lang="zh-TW" altLang="en-US" dirty="0">
              <a:solidFill>
                <a:prstClr val="white">
                  <a:lumMod val="50000"/>
                </a:prstClr>
              </a:solidFill>
              <a:latin typeface="Arial"/>
              <a:ea typeface="微軟正黑體"/>
            </a:endParaRPr>
          </a:p>
        </p:txBody>
      </p:sp>
      <p:graphicFrame>
        <p:nvGraphicFramePr>
          <p:cNvPr id="12" name="內容版面配置區 11">
            <a:extLst>
              <a:ext uri="{FF2B5EF4-FFF2-40B4-BE49-F238E27FC236}">
                <a16:creationId xmlns:a16="http://schemas.microsoft.com/office/drawing/2014/main" id="{CEE0444E-D7E2-1872-E058-82BE639A8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480510"/>
              </p:ext>
            </p:extLst>
          </p:nvPr>
        </p:nvGraphicFramePr>
        <p:xfrm>
          <a:off x="453037" y="1056169"/>
          <a:ext cx="8453925" cy="3373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925">
                  <a:extLst>
                    <a:ext uri="{9D8B030D-6E8A-4147-A177-3AD203B41FA5}">
                      <a16:colId xmlns:a16="http://schemas.microsoft.com/office/drawing/2014/main" val="250321584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99433479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397628237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7153422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zh-TW" altLang="en-US" sz="105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申請藥品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取代藥品</a:t>
                      </a:r>
                      <a:r>
                        <a:rPr lang="en-US" altLang="zh-TW" sz="105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05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二擇一</a:t>
                      </a:r>
                      <a:r>
                        <a:rPr lang="en-US" altLang="zh-TW" sz="105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105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5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054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1" i="0" u="none" strike="noStrike" kern="1200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藥名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5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5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7800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05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適應症</a:t>
                      </a:r>
                    </a:p>
                  </a:txBody>
                  <a:tcPr marL="67500" marR="67500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50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zh-TW" altLang="en-US" sz="1050" b="1" kern="1200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ECC09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zh-TW" altLang="en-US" sz="1050" b="1" kern="1200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ECC09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0049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05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差異</a:t>
                      </a:r>
                    </a:p>
                  </a:txBody>
                  <a:tcPr marL="67500" marR="67500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050" b="1" kern="1200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ECC09"/>
                        </a:highlight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zh-TW" sz="10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zh-TW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506807"/>
                  </a:ext>
                </a:extLst>
              </a:tr>
              <a:tr h="79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  <a:sym typeface="Microsoft JhengHei"/>
                        </a:rPr>
                        <a:t>建議劑量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171450" lvl="0" indent="-171450" algn="l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altLang="zh-TW" sz="1050" b="0" u="none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050" b="0" u="none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altLang="zh-TW" sz="1050" b="1" u="none" kern="1200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ECC09"/>
                        </a:highlight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47811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05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健保價</a:t>
                      </a:r>
                      <a:endParaRPr lang="en-US" altLang="zh-TW" sz="1050" b="1" i="0" u="none" strike="noStrike" kern="1200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7500" marR="67500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en-US" sz="105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1448" marR="51448" marT="25719" marB="2571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5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1448" marR="51448" marT="25719" marB="2571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5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1448" marR="51448" marT="25719" marB="2571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2939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每日藥價</a:t>
                      </a:r>
                      <a:endParaRPr lang="en-US" altLang="zh-TW" sz="1050" b="1" i="0" u="none" strike="noStrike" kern="1200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7500" marR="67500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50" b="1" kern="1200" dirty="0">
                        <a:solidFill>
                          <a:sysClr val="windowText" lastClr="000000"/>
                        </a:solidFill>
                        <a:highlight>
                          <a:srgbClr val="FECC09"/>
                        </a:highlight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1448" marR="51448" marT="25719" marB="2571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1448" marR="51448" marT="25719" marB="2571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1448" marR="51448" marT="25719" marB="2571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4552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月均用量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200"/>
                        </a:spcBef>
                      </a:pPr>
                      <a:endParaRPr lang="en-US" altLang="zh-TW" sz="105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21431" marR="21431" marT="14288" marB="14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200"/>
                        </a:spcBef>
                      </a:pPr>
                      <a:endParaRPr lang="en-US" altLang="zh-TW" sz="105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21431" marR="21431" marT="14288" marB="14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200"/>
                        </a:spcBef>
                      </a:pPr>
                      <a:endParaRPr lang="en-US" altLang="zh-TW" sz="105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21431" marR="21431" marT="14288" marB="14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853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937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ADE52D-8B6B-D648-C80E-D690AAA3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116682"/>
            <a:ext cx="8485585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pPr lvl="1"/>
            <a:r>
              <a:rPr lang="zh-TW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臨床使用意見</a:t>
            </a:r>
            <a:endParaRPr lang="en-US" altLang="zh-TW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159BB3-08A2-598C-0612-BC7008D3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731" y="4767263"/>
            <a:ext cx="2057400" cy="273844"/>
          </a:xfrm>
        </p:spPr>
        <p:txBody>
          <a:bodyPr/>
          <a:lstStyle/>
          <a:p>
            <a:pPr defTabSz="685800"/>
            <a:fld id="{B287D16E-1BE4-4ED0-A269-307B9D14B6A6}" type="slidenum">
              <a:rPr lang="zh-TW" altLang="en-US">
                <a:solidFill>
                  <a:prstClr val="white">
                    <a:lumMod val="50000"/>
                  </a:prstClr>
                </a:solidFill>
                <a:latin typeface="Arial"/>
                <a:ea typeface="微軟正黑體"/>
              </a:rPr>
              <a:pPr defTabSz="685800"/>
              <a:t>9</a:t>
            </a:fld>
            <a:endParaRPr lang="zh-TW" altLang="en-US">
              <a:solidFill>
                <a:prstClr val="white">
                  <a:lumMod val="50000"/>
                </a:prstClr>
              </a:solidFill>
              <a:latin typeface="Arial"/>
              <a:ea typeface="微軟正黑體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695115A-5EA9-86B3-03E5-419886FA0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555121"/>
              </p:ext>
            </p:extLst>
          </p:nvPr>
        </p:nvGraphicFramePr>
        <p:xfrm>
          <a:off x="467545" y="1232279"/>
          <a:ext cx="8280000" cy="347241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399465685"/>
                    </a:ext>
                  </a:extLst>
                </a:gridCol>
                <a:gridCol w="4248551">
                  <a:extLst>
                    <a:ext uri="{9D8B030D-6E8A-4147-A177-3AD203B41FA5}">
                      <a16:colId xmlns:a16="http://schemas.microsoft.com/office/drawing/2014/main" val="1962466351"/>
                    </a:ext>
                  </a:extLst>
                </a:gridCol>
                <a:gridCol w="3311449">
                  <a:extLst>
                    <a:ext uri="{9D8B030D-6E8A-4147-A177-3AD203B41FA5}">
                      <a16:colId xmlns:a16="http://schemas.microsoft.com/office/drawing/2014/main" val="4166780797"/>
                    </a:ext>
                  </a:extLst>
                </a:gridCol>
              </a:tblGrid>
              <a:tr h="30441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/>
                          </a:solidFill>
                        </a:rPr>
                        <a:t>醫師意見</a:t>
                      </a:r>
                      <a:endParaRPr lang="zh-TW" altLang="en-US" sz="1200" b="0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i="0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藥師意見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2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064791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附醫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40556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萬芳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BDBD"/>
                        </a:highlight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dirty="0"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5267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雙和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BDBD"/>
                        </a:highlight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665411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D7C946A-1E6A-9CCE-2E4C-3DB790D66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565598"/>
              </p:ext>
            </p:extLst>
          </p:nvPr>
        </p:nvGraphicFramePr>
        <p:xfrm>
          <a:off x="3779912" y="141571"/>
          <a:ext cx="5227245" cy="9187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23953">
                  <a:extLst>
                    <a:ext uri="{9D8B030D-6E8A-4147-A177-3AD203B41FA5}">
                      <a16:colId xmlns:a16="http://schemas.microsoft.com/office/drawing/2014/main" val="533184933"/>
                    </a:ext>
                  </a:extLst>
                </a:gridCol>
                <a:gridCol w="1923292">
                  <a:extLst>
                    <a:ext uri="{9D8B030D-6E8A-4147-A177-3AD203B41FA5}">
                      <a16:colId xmlns:a16="http://schemas.microsoft.com/office/drawing/2014/main" val="399433479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431175586"/>
                    </a:ext>
                  </a:extLst>
                </a:gridCol>
              </a:tblGrid>
              <a:tr h="18297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申請藥品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暫定取代藥品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同類藥品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064791"/>
                  </a:ext>
                </a:extLst>
              </a:tr>
              <a:tr h="45197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u="none" strike="noStrike" cap="none" dirty="0">
                        <a:latin typeface="+mn-lt"/>
                        <a:ea typeface="+mn-ea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it-IT" altLang="zh-TW" sz="1000" b="0" i="0" u="none" strike="noStrike" kern="1200" cap="none" baseline="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it-IT" altLang="zh-TW" sz="1000" b="0" i="0" u="none" strike="noStrike" kern="1200" cap="none" baseline="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405561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u="none" strike="noStrike" cap="none" dirty="0">
                          <a:latin typeface="+mn-lt"/>
                          <a:ea typeface="+mn-ea"/>
                          <a:cs typeface="Calibri" panose="020F0502020204030204" pitchFamily="34" charset="0"/>
                          <a:sym typeface="Calibri"/>
                        </a:rPr>
                        <a:t>主要開立科別：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it-IT" altLang="zh-TW" sz="1100" b="0" i="0" u="none" strike="noStrike" kern="1200" cap="none" baseline="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it-IT" altLang="zh-TW" sz="1100" b="0" i="0" u="none" strike="noStrike" kern="1200" cap="none" baseline="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910080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C255B3AB-EF44-87EE-1947-E4345CAA9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5236046"/>
            <a:ext cx="3505132" cy="135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2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E3D1C-CCE5-52F2-C3A9-2816E3BA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3">
            <a:extLst>
              <a:ext uri="{FF2B5EF4-FFF2-40B4-BE49-F238E27FC236}">
                <a16:creationId xmlns:a16="http://schemas.microsoft.com/office/drawing/2014/main" id="{597EAF4E-3552-05AB-8BA3-C066DCD0C543}"/>
              </a:ext>
            </a:extLst>
          </p:cNvPr>
          <p:cNvSpPr txBox="1">
            <a:spLocks/>
          </p:cNvSpPr>
          <p:nvPr/>
        </p:nvSpPr>
        <p:spPr>
          <a:xfrm>
            <a:off x="110338" y="117751"/>
            <a:ext cx="8641556" cy="67151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55"/>
            <a:endParaRPr lang="en-US" altLang="zh-TW" sz="2700" b="1" dirty="0">
              <a:solidFill>
                <a:prstClr val="black"/>
              </a:solidFill>
              <a:latin typeface="+mn-lt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88C83E-AB18-7ED3-CC51-C2479965B820}"/>
              </a:ext>
            </a:extLst>
          </p:cNvPr>
          <p:cNvGraphicFramePr>
            <a:graphicFrameLocks noGrp="1"/>
          </p:cNvGraphicFramePr>
          <p:nvPr/>
        </p:nvGraphicFramePr>
        <p:xfrm>
          <a:off x="2622471" y="4090242"/>
          <a:ext cx="3899058" cy="641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9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8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建議通過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建議比價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建議不通過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74"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marL="72000" marR="72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u="none" strike="noStrike" kern="1200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marL="72000" marR="72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標題 6">
            <a:extLst>
              <a:ext uri="{FF2B5EF4-FFF2-40B4-BE49-F238E27FC236}">
                <a16:creationId xmlns:a16="http://schemas.microsoft.com/office/drawing/2014/main" id="{833A2E68-9FD4-F44A-8A58-6258AC04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06" y="116681"/>
            <a:ext cx="8123244" cy="826294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zh-TW" altLang="en-US" dirty="0"/>
              <a:t>綜合評估</a:t>
            </a:r>
          </a:p>
        </p:txBody>
      </p:sp>
      <p:graphicFrame>
        <p:nvGraphicFramePr>
          <p:cNvPr id="14" name="Group 48">
            <a:extLst>
              <a:ext uri="{FF2B5EF4-FFF2-40B4-BE49-F238E27FC236}">
                <a16:creationId xmlns:a16="http://schemas.microsoft.com/office/drawing/2014/main" id="{B5E3F9AD-DD4B-865F-5DF5-74E57CA16D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8092870"/>
              </p:ext>
            </p:extLst>
          </p:nvPr>
        </p:nvGraphicFramePr>
        <p:xfrm>
          <a:off x="395288" y="1131590"/>
          <a:ext cx="8496945" cy="2860800"/>
        </p:xfrm>
        <a:graphic>
          <a:graphicData uri="http://schemas.openxmlformats.org/drawingml/2006/table">
            <a:tbl>
              <a:tblPr firstCol="1"/>
              <a:tblGrid>
                <a:gridCol w="1699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592048332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1978305016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90540445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文獻證明療效</a:t>
                      </a:r>
                      <a:endParaRPr kumimoji="0" lang="en-US" altLang="zh-TW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相同或較優於現有藥品</a:t>
                      </a: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文獻證明安全性</a:t>
                      </a:r>
                      <a:endParaRPr kumimoji="0" lang="en-US" altLang="zh-TW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相同或較優於現有藥品</a:t>
                      </a: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體系無作用類似之藥品</a:t>
                      </a:r>
                      <a:endParaRPr kumimoji="0" lang="en-US" altLang="zh-TW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符合政策面特殊需求</a:t>
                      </a:r>
                      <a:endParaRPr kumimoji="0" lang="zh-TW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符合醫療面特殊需求</a:t>
                      </a:r>
                      <a:endParaRPr kumimoji="0" lang="zh-TW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51286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國內同儕使用經驗</a:t>
                      </a:r>
                      <a:endParaRPr kumimoji="0" lang="en-US" altLang="zh-TW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68588" marR="68588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體系有使用經驗</a:t>
                      </a:r>
                      <a:endParaRPr kumimoji="0" lang="en-US" altLang="zh-TW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臨床需求共識度</a:t>
                      </a: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價格</a:t>
                      </a:r>
                      <a:r>
                        <a:rPr kumimoji="0" lang="en-US" altLang="zh-TW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/</a:t>
                      </a: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成本符合經濟效益</a:t>
                      </a:r>
                      <a:endParaRPr kumimoji="0" lang="en-US" altLang="zh-TW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廠商供應穩定度及</a:t>
                      </a:r>
                      <a:endParaRPr kumimoji="0" lang="en-US" altLang="zh-TW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企業永續作為或其他</a:t>
                      </a:r>
                      <a:endParaRPr kumimoji="0" lang="en-US" altLang="zh-TW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68588" marR="68588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6636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100" b="1" kern="120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高警訊</a:t>
                      </a:r>
                      <a:endParaRPr lang="zh-TW" altLang="en-US" sz="11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8" marR="68588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2E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微軟正黑體" pitchFamily="34" charset="-120"/>
                      </a:endParaRPr>
                    </a:p>
                  </a:txBody>
                  <a:tcPr marL="68588" marR="68588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LASA</a:t>
                      </a:r>
                      <a:endParaRPr kumimoji="0" lang="en-US" altLang="zh-TW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微軟正黑體" pitchFamily="34" charset="-120"/>
                      </a:endParaRPr>
                    </a:p>
                  </a:txBody>
                  <a:tcPr marL="68588" marR="68588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E3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8" marR="68588" marT="40500" marB="405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822977"/>
                  </a:ext>
                </a:extLst>
              </a:tr>
              <a:tr h="110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歷年審議結果</a:t>
                      </a:r>
                      <a:endParaRPr lang="en-US" altLang="zh-TW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TW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年分</a:t>
                      </a:r>
                      <a:r>
                        <a:rPr lang="en-US" altLang="zh-TW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不通過原因</a:t>
                      </a:r>
                      <a:r>
                        <a:rPr lang="en-US" altLang="zh-TW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900" b="1" kern="1200" dirty="0">
                        <a:solidFill>
                          <a:schemeClr val="lt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2E37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zh-TW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025289"/>
                  </a:ext>
                </a:extLst>
              </a:tr>
              <a:tr h="90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綜合意見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2E37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zh-TW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248ED38-6508-4C9D-E444-B981C1AE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3207" y="4767263"/>
            <a:ext cx="2057400" cy="273844"/>
          </a:xfrm>
        </p:spPr>
        <p:txBody>
          <a:bodyPr/>
          <a:lstStyle/>
          <a:p>
            <a:fld id="{4C002972-A12B-410C-BD04-EF6D20C80266}" type="slidenum">
              <a:rPr lang="zh-TW" altLang="en-US"/>
              <a:pPr/>
              <a:t>10</a:t>
            </a:fld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6AD63BD-C1B3-F625-43DD-54BC669D1490}"/>
              </a:ext>
            </a:extLst>
          </p:cNvPr>
          <p:cNvSpPr>
            <a:spLocks noChangeAspect="1"/>
          </p:cNvSpPr>
          <p:nvPr/>
        </p:nvSpPr>
        <p:spPr>
          <a:xfrm>
            <a:off x="9378259" y="1234882"/>
            <a:ext cx="432048" cy="432000"/>
          </a:xfrm>
          <a:prstGeom prst="ellipse">
            <a:avLst/>
          </a:prstGeom>
          <a:noFill/>
          <a:ln w="63500">
            <a:solidFill>
              <a:srgbClr val="00B05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乘號 11">
            <a:extLst>
              <a:ext uri="{FF2B5EF4-FFF2-40B4-BE49-F238E27FC236}">
                <a16:creationId xmlns:a16="http://schemas.microsoft.com/office/drawing/2014/main" id="{08C95097-D454-459D-55B1-B3ED05E99775}"/>
              </a:ext>
            </a:extLst>
          </p:cNvPr>
          <p:cNvSpPr>
            <a:spLocks noChangeAspect="1"/>
          </p:cNvSpPr>
          <p:nvPr/>
        </p:nvSpPr>
        <p:spPr>
          <a:xfrm>
            <a:off x="-702949" y="1162850"/>
            <a:ext cx="576000" cy="576064"/>
          </a:xfrm>
          <a:prstGeom prst="mathMultiply">
            <a:avLst>
              <a:gd name="adj1" fmla="val 12563"/>
            </a:avLst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等腰三角形 30">
            <a:extLst>
              <a:ext uri="{FF2B5EF4-FFF2-40B4-BE49-F238E27FC236}">
                <a16:creationId xmlns:a16="http://schemas.microsoft.com/office/drawing/2014/main" id="{F872523C-57CE-9F00-3924-7086ABB957FA}"/>
              </a:ext>
            </a:extLst>
          </p:cNvPr>
          <p:cNvSpPr>
            <a:spLocks noChangeAspect="1"/>
          </p:cNvSpPr>
          <p:nvPr/>
        </p:nvSpPr>
        <p:spPr>
          <a:xfrm>
            <a:off x="9373756" y="1931169"/>
            <a:ext cx="441053" cy="360000"/>
          </a:xfrm>
          <a:prstGeom prst="triangle">
            <a:avLst/>
          </a:prstGeom>
          <a:noFill/>
          <a:ln w="63500">
            <a:solidFill>
              <a:schemeClr val="accent4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7DCFC117-D41B-F148-B5DA-9D0358C63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416284"/>
              </p:ext>
            </p:extLst>
          </p:nvPr>
        </p:nvGraphicFramePr>
        <p:xfrm>
          <a:off x="3779912" y="141571"/>
          <a:ext cx="5227245" cy="6853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23953">
                  <a:extLst>
                    <a:ext uri="{9D8B030D-6E8A-4147-A177-3AD203B41FA5}">
                      <a16:colId xmlns:a16="http://schemas.microsoft.com/office/drawing/2014/main" val="533184933"/>
                    </a:ext>
                  </a:extLst>
                </a:gridCol>
                <a:gridCol w="1923292">
                  <a:extLst>
                    <a:ext uri="{9D8B030D-6E8A-4147-A177-3AD203B41FA5}">
                      <a16:colId xmlns:a16="http://schemas.microsoft.com/office/drawing/2014/main" val="399433479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431175586"/>
                    </a:ext>
                  </a:extLst>
                </a:gridCol>
              </a:tblGrid>
              <a:tr h="18297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申請藥品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暫定取代藥品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同類藥品</a:t>
                      </a: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064791"/>
                  </a:ext>
                </a:extLst>
              </a:tr>
              <a:tr h="45197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u="none" strike="noStrike" cap="none" dirty="0">
                        <a:latin typeface="+mn-lt"/>
                        <a:ea typeface="+mn-ea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7500" marR="67500" marT="40500" marB="405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it-IT" altLang="zh-TW" sz="1000" b="0" i="0" u="none" strike="noStrike" kern="1200" cap="none" baseline="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it-IT" altLang="zh-TW" sz="1000" b="0" i="0" u="none" strike="noStrike" kern="1200" cap="none" baseline="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25" marR="91425" marT="91425" marB="914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405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43989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182490</TotalTime>
  <Words>1009</Words>
  <Application>Microsoft Office PowerPoint</Application>
  <PresentationFormat>如螢幕大小 (16:9)</PresentationFormat>
  <Paragraphs>113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微軟正黑體</vt:lpstr>
      <vt:lpstr>Aptos</vt:lpstr>
      <vt:lpstr>Arial</vt:lpstr>
      <vt:lpstr>Calibri</vt:lpstr>
      <vt:lpstr>1_Office 佈景主題</vt:lpstr>
      <vt:lpstr>新進藥品評估-案</vt:lpstr>
      <vt:lpstr>申請總表</vt:lpstr>
      <vt:lpstr>療效-機轉</vt:lpstr>
      <vt:lpstr>療效-指引</vt:lpstr>
      <vt:lpstr>療效-文獻</vt:lpstr>
      <vt:lpstr>安全性</vt:lpstr>
      <vt:lpstr>醫療科技評估</vt:lpstr>
      <vt:lpstr>同類藥品比較</vt:lpstr>
      <vt:lpstr>臨床使用意見</vt:lpstr>
      <vt:lpstr>綜合評估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7818</cp:revision>
  <cp:lastPrinted>2024-12-25T07:46:55Z</cp:lastPrinted>
  <dcterms:created xsi:type="dcterms:W3CDTF">2023-11-15T08:32:38Z</dcterms:created>
  <dcterms:modified xsi:type="dcterms:W3CDTF">2026-09-10T08:12:41Z</dcterms:modified>
</cp:coreProperties>
</file>